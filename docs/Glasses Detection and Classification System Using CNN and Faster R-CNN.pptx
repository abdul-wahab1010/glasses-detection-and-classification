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></Relationship>
  <Relationship Id="rId2" Type="http://schemas.openxmlformats.org/package/2006/relationships/metadata/thumbnail" Target="docProps/thumbnail.jpeg"></Relationship>
  <Relationship Id="rId3" Type="http://schemas.openxmlformats.org/package/2006/relationships/metadata/core-properties" Target="docProps/core.xml"></Relationship>
  <Relationship Id="rId4" Type="http://schemas.openxmlformats.org/officeDocument/2006/relationships/extended-properties" Target="docProps/app.xml"></Relationship>
  <Relationship Id="rId5" Type="http://schemas.openxmlformats.org/officeDocument/2006/relationships/custom-properties" Target="docProps/custom.xml"></Relationship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6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36.png"/><Relationship Id="rId6" Type="http://schemas.openxmlformats.org/officeDocument/2006/relationships/image" Target="../media/image26.png"/><Relationship Id="rId7" Type="http://schemas.openxmlformats.org/officeDocument/2006/relationships/image" Target="../media/image37.png"/><Relationship Id="rId8" Type="http://schemas.openxmlformats.org/officeDocument/2006/relationships/image" Target="../media/image2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Relationship Id="rId14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56.png"/><Relationship Id="rId9" Type="http://schemas.openxmlformats.org/officeDocument/2006/relationships/image" Target="../media/image63.png"/><Relationship Id="rId10" Type="http://schemas.openxmlformats.org/officeDocument/2006/relationships/image" Target="../media/image6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14997" y="0"/>
            <a:ext cx="5076698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14997" y="0"/>
            <a:ext cx="5076698" cy="6858000"/>
          </a:xfrm>
          <a:prstGeom prst="rect">
            <a:avLst/>
          </a:prstGeom>
          <a:solidFill>
            <a:srgbClr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14997" y="0"/>
            <a:ext cx="5076698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1980" y="581025"/>
            <a:ext cx="457188" cy="457200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76278" y="732472"/>
            <a:ext cx="228594" cy="1543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33466" y="714375"/>
            <a:ext cx="25050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NEURAL NETWORKS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1343025"/>
            <a:ext cx="5762480" cy="2686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3827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 Glasses Detection</a:t>
            </a:r>
            <a:r>
              <a:rPr sz="1104"/>
              <a:t>
</a:t>
            </a:r>
            <a:r>
              <a:rPr sz="3827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2870" b="1">
                <a:solidFill>
                  <a:srgbClr val="2E90FA"/>
                </a:solidFill>
                <a:latin typeface="Apple Color Emoji"/>
                <a:rFonts ascii="Apple Color Emoji" hAnsi="Apple Color Emoji" eastAsia="Apple Color Emoji" cs="Apple Color Emoji"/>
              </a:rPr>
              <a:t>&amp; Classification System</a:t>
            </a:r>
            <a:r>
              <a:rPr sz="3827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sp>
        <p:nvSpPr>
          <p:cNvPr id="9" name="Rectangle 8"/>
          <p:cNvSpPr/>
          <p:nvPr/>
        </p:nvSpPr>
        <p:spPr>
          <a:xfrm>
            <a:off x="761980" y="4257675"/>
            <a:ext cx="914377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980" y="4638674"/>
            <a:ext cx="487667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3120"/>
              </a:spcAft>
            </a:pPr>
            <a:r>
              <a:rPr sz="1196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Using CNN and Faster R-CNN for real-time intelligent vision systems.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80" y="5629275"/>
            <a:ext cx="13239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CA3AF"/>
                </a:solidFill>
                <a:latin typeface="Apple Color Emoji"/>
                <a:rFonts ascii="Apple Color Emoji" hAnsi="Apple Color Emoji" eastAsia="Apple Color Emoji" cs="Apple Color Emoji"/>
              </a:rPr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80" y="5857875"/>
            <a:ext cx="13239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Wahab Ul Hassan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80" y="6086475"/>
            <a:ext cx="13239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Apple Color Emoji"/>
                <a:rFonts ascii="Apple Color Emoji" hAnsi="Apple Color Emoji" eastAsia="Apple Color Emoji" cs="Apple Color Emoji"/>
              </a:rPr>
              <a:t>42-FET/BSCE/F22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0715" y="5800725"/>
            <a:ext cx="9524" cy="3048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05032" y="5724524"/>
            <a:ext cx="12667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CA3AF"/>
                </a:solidFill>
                <a:latin typeface="Apple Color Emoji"/>
                <a:rFonts ascii="Apple Color Emoji" hAnsi="Apple Color Emoji" eastAsia="Apple Color Emoji" cs="Apple Color Emoji"/>
              </a:rPr>
              <a:t>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5032" y="5953124"/>
            <a:ext cx="12667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Neural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1590675"/>
            <a:ext cx="5333866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1560"/>
              </a:spcAft>
            </a:pPr>
            <a:r>
              <a:rPr sz="2152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Introduction</a:t>
            </a:r>
            <a:r>
              <a:rPr sz="1104"/>
              <a:t>
</a:t>
            </a:r>
            <a:r>
              <a:rPr sz="2152" b="1">
                <a:solidFill>
                  <a:srgbClr val="2E90FA"/>
                </a:solidFill>
                <a:latin typeface="Apple Color Emoji"/>
                <a:rFonts ascii="Apple Color Emoji" hAnsi="Apple Color Emoji" eastAsia="Apple Color Emoji" cs="Apple Color Emoji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980" y="2581275"/>
            <a:ext cx="609584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980" y="2924175"/>
            <a:ext cx="5333866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2080"/>
              </a:spcAft>
            </a:pPr>
            <a:r>
              <a:rPr sz="1076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Develop an intelligent computer vision system capable of analyzing facial features with precision and speed.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1980" y="3781424"/>
            <a:ext cx="5333866" cy="1485900"/>
          </a:xfrm>
          <a:prstGeom prst="roundRect">
            <a:avLst>
              <a:gd name="adj" fmla="val 5128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85070" y="4458334"/>
            <a:ext cx="1485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674" y="4010024"/>
            <a:ext cx="48385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Core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674" y="4314825"/>
            <a:ext cx="48385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• Identify if a person is wearing glasses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674" y="4581524"/>
            <a:ext cx="48385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• Detect location of glasses (Bounding Box)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674" y="4848225"/>
            <a:ext cx="48385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• Perform Real-time analysis via webcam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53036" y="723900"/>
            <a:ext cx="4876678" cy="1704975"/>
          </a:xfrm>
          <a:prstGeom prst="roundRect">
            <a:avLst>
              <a:gd name="adj" fmla="val 8938"/>
            </a:avLst>
          </a:prstGeom>
          <a:solidFill>
            <a:srgbClr val="FFFFFF"/>
          </a:solidFill>
          <a:ln w="8255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91155" y="1276350"/>
            <a:ext cx="533386" cy="600075"/>
          </a:xfrm>
          <a:prstGeom prst="roundRect">
            <a:avLst>
              <a:gd name="adj" fmla="val 3571071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943551" y="1480185"/>
            <a:ext cx="228594" cy="1257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53136" y="1343025"/>
            <a:ext cx="26383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Smart Surveillance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3136" y="1609724"/>
            <a:ext cx="26383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Enhanced monitoring and identification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53036" y="2581275"/>
            <a:ext cx="4876678" cy="1704975"/>
          </a:xfrm>
          <a:prstGeom prst="roundRect">
            <a:avLst>
              <a:gd name="adj" fmla="val 8938"/>
            </a:avLst>
          </a:prstGeom>
          <a:solidFill>
            <a:srgbClr val="FFFFFF"/>
          </a:solidFill>
          <a:ln w="8255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91155" y="3124200"/>
            <a:ext cx="533386" cy="600075"/>
          </a:xfrm>
          <a:prstGeom prst="roundRect">
            <a:avLst>
              <a:gd name="adj" fmla="val 35710714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943551" y="3288030"/>
            <a:ext cx="228594" cy="20573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53136" y="3200400"/>
            <a:ext cx="2400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Face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3136" y="3467100"/>
            <a:ext cx="2400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Attribute extraction for HCI systems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3036" y="4429125"/>
            <a:ext cx="4876678" cy="1704975"/>
          </a:xfrm>
          <a:prstGeom prst="roundRect">
            <a:avLst>
              <a:gd name="adj" fmla="val 8938"/>
            </a:avLst>
          </a:prstGeom>
          <a:solidFill>
            <a:srgbClr val="FFFFFF"/>
          </a:solidFill>
          <a:ln w="8255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91155" y="4981574"/>
            <a:ext cx="533386" cy="600075"/>
          </a:xfrm>
          <a:prstGeom prst="roundRect">
            <a:avLst>
              <a:gd name="adj" fmla="val 3571071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943551" y="5139690"/>
            <a:ext cx="228594" cy="21717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53136" y="5057775"/>
            <a:ext cx="22859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Security &amp;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3136" y="5324474"/>
            <a:ext cx="22859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Smart attendance and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571500"/>
            <a:ext cx="1066773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2080"/>
              </a:spcAft>
            </a:pPr>
            <a:r>
              <a:rPr sz="2152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Datasets Used </a:t>
            </a:r>
            <a:r>
              <a:rPr sz="1435" b="0">
                <a:solidFill>
                  <a:srgbClr val="9CA3AF"/>
                </a:solidFill>
                <a:latin typeface="Apple Color Emoji"/>
                <a:rFonts ascii="Apple Color Emoji" hAnsi="Apple Color Emoji" eastAsia="Apple Color Emoji" cs="Apple Color Emoji"/>
              </a:rPr>
              <a:t>| Data Augmentation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980" y="1257300"/>
            <a:ext cx="5181470" cy="4886325"/>
          </a:xfrm>
          <a:prstGeom prst="rect">
            <a:avLst/>
          </a:prstGeom>
          <a:solidFill>
            <a:srgbClr val="FFFFFF"/>
          </a:solidFill>
          <a:ln w="33020">
            <a:solidFill>
              <a:srgbClr val="2E9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575" y="1523999"/>
            <a:ext cx="47242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Classification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0575" y="1943100"/>
            <a:ext cx="4724281" cy="1714500"/>
          </a:xfrm>
          <a:prstGeom prst="roundRect">
            <a:avLst>
              <a:gd name="adj" fmla="val 8888"/>
            </a:avLst>
          </a:prstGeom>
          <a:solidFill>
            <a:srgbClr val="F9FAFB"/>
          </a:solidFill>
          <a:ln w="165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0575" y="1943100"/>
            <a:ext cx="4724281" cy="1714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165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575" y="3771900"/>
            <a:ext cx="472428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Original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75" y="4038599"/>
            <a:ext cx="51433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110" y="4171950"/>
            <a:ext cx="4857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75" y="4533900"/>
            <a:ext cx="47242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Augmentation Applied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0575" y="4762500"/>
            <a:ext cx="628634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575" y="4762500"/>
            <a:ext cx="6286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2E90FA"/>
                </a:solidFill>
                <a:latin typeface="Apple Color Emoji"/>
                <a:rFonts ascii="Apple Color Emoji" hAnsi="Apple Color Emoji" eastAsia="Apple Color Emoji" cs="Apple Color Emoji"/>
              </a:rPr>
              <a:t>Rotation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5407" y="4762500"/>
            <a:ext cx="352416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5407" y="4762500"/>
            <a:ext cx="35241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2E90FA"/>
                </a:solidFill>
                <a:latin typeface="Apple Color Emoji"/>
                <a:rFonts ascii="Apple Color Emoji" hAnsi="Apple Color Emoji" eastAsia="Apple Color Emoji" cs="Apple Color Emoji"/>
              </a:rPr>
              <a:t>Flip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24021" y="4762500"/>
            <a:ext cx="761980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24021" y="4762500"/>
            <a:ext cx="7619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2E90FA"/>
                </a:solidFill>
                <a:latin typeface="Apple Color Emoji"/>
                <a:rFonts ascii="Apple Color Emoji" hAnsi="Apple Color Emoji" eastAsia="Apple Color Emoji" cs="Apple Color Emoji"/>
              </a:rPr>
              <a:t>Brightness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62200" y="4762500"/>
            <a:ext cx="485762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62200" y="4762500"/>
            <a:ext cx="4857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2E90FA"/>
                </a:solidFill>
                <a:latin typeface="Apple Color Emoji"/>
                <a:rFonts ascii="Apple Color Emoji" hAnsi="Apple Color Emoji" eastAsia="Apple Color Emoji" cs="Apple Color Emoji"/>
              </a:rPr>
              <a:t>Zoom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4161" y="4762500"/>
            <a:ext cx="380990" cy="2286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4161" y="4762500"/>
            <a:ext cx="3809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2E90FA"/>
                </a:solidFill>
                <a:latin typeface="Apple Color Emoji"/>
                <a:rFonts ascii="Apple Color Emoji" hAnsi="Apple Color Emoji" eastAsia="Apple Color Emoji" cs="Apple Color Emoji"/>
              </a:rPr>
              <a:t>Blur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575" y="5305425"/>
            <a:ext cx="472428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Final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575" y="5572125"/>
            <a:ext cx="68578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E90FA"/>
                </a:solidFill>
                <a:latin typeface="JetBrains Mono"/>
                <a:rFonts ascii="JetBrains Mono" hAnsi="JetBrains Mono" eastAsia="JetBrains Mono" cs="JetBrains Mono"/>
              </a:rPr>
              <a:t>1000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0655" y="5648325"/>
            <a:ext cx="4857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Images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14797" y="5629275"/>
            <a:ext cx="600059" cy="228600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4797" y="5629275"/>
            <a:ext cx="6000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5803D"/>
                </a:solidFill>
                <a:latin typeface="Apple Color Emoji"/>
                <a:rFonts ascii="Apple Color Emoji" hAnsi="Apple Color Emoji" eastAsia="Apple Color Emoji" cs="Apple Color Emoji"/>
              </a:rPr>
              <a:t>+150%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8243" y="1257300"/>
            <a:ext cx="5181470" cy="4886325"/>
          </a:xfrm>
          <a:prstGeom prst="rect">
            <a:avLst/>
          </a:prstGeom>
          <a:solidFill>
            <a:srgbClr val="FFFFFF"/>
          </a:solidFill>
          <a:ln w="330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6838" y="1523999"/>
            <a:ext cx="47242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Detection Dataset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6838" y="1943100"/>
            <a:ext cx="4724281" cy="1714500"/>
          </a:xfrm>
          <a:prstGeom prst="roundRect">
            <a:avLst>
              <a:gd name="adj" fmla="val 8888"/>
            </a:avLst>
          </a:prstGeom>
          <a:solidFill>
            <a:srgbClr val="F9FAFB"/>
          </a:solidFill>
          <a:ln w="165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6838" y="1943100"/>
            <a:ext cx="4724281" cy="17145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65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6838" y="3771900"/>
            <a:ext cx="472428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Original Size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6838" y="4038599"/>
            <a:ext cx="51433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7373" y="4171950"/>
            <a:ext cx="4857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6838" y="4533900"/>
            <a:ext cx="47242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Augmentation Applied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76838" y="4762500"/>
            <a:ext cx="352416" cy="2286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6838" y="4762500"/>
            <a:ext cx="35241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10B981"/>
                </a:solidFill>
                <a:latin typeface="Apple Color Emoji"/>
                <a:rFonts ascii="Apple Color Emoji" hAnsi="Apple Color Emoji" eastAsia="Apple Color Emoji" cs="Apple Color Emoji"/>
              </a:rPr>
              <a:t>Flip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5452" y="4762500"/>
            <a:ext cx="628634" cy="2286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5452" y="4762500"/>
            <a:ext cx="6286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10B981"/>
                </a:solidFill>
                <a:latin typeface="Apple Color Emoji"/>
                <a:rFonts ascii="Apple Color Emoji" hAnsi="Apple Color Emoji" eastAsia="Apple Color Emoji" cs="Apple Color Emoji"/>
              </a:rPr>
              <a:t>Rotation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10284" y="4762500"/>
            <a:ext cx="761980" cy="2286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10284" y="4762500"/>
            <a:ext cx="7619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10B981"/>
                </a:solidFill>
                <a:latin typeface="Apple Color Emoji"/>
                <a:rFonts ascii="Apple Color Emoji" hAnsi="Apple Color Emoji" eastAsia="Apple Color Emoji" cs="Apple Color Emoji"/>
              </a:rPr>
              <a:t>Brightness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48463" y="4762500"/>
            <a:ext cx="380990" cy="2286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48463" y="4762500"/>
            <a:ext cx="3809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10B981"/>
                </a:solidFill>
                <a:latin typeface="Apple Color Emoji"/>
                <a:rFonts ascii="Apple Color Emoji" hAnsi="Apple Color Emoji" eastAsia="Apple Color Emoji" cs="Apple Color Emoji"/>
              </a:rPr>
              <a:t>Blur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05652" y="4762500"/>
            <a:ext cx="561960" cy="2286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05652" y="4762500"/>
            <a:ext cx="5619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10B981"/>
                </a:solidFill>
                <a:latin typeface="Apple Color Emoji"/>
                <a:rFonts ascii="Apple Color Emoji" hAnsi="Apple Color Emoji" eastAsia="Apple Color Emoji" cs="Apple Color Emoji"/>
              </a:rPr>
              <a:t>Scaling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6838" y="5305425"/>
            <a:ext cx="472428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Final Size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6838" y="5572125"/>
            <a:ext cx="68578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0B981"/>
                </a:solidFill>
                <a:latin typeface="JetBrains Mono"/>
                <a:rFonts ascii="JetBrains Mono" hAnsi="JetBrains Mono" eastAsia="JetBrains Mono" cs="JetBrains Mono"/>
              </a:rPr>
              <a:t>1000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76918" y="5648325"/>
            <a:ext cx="4857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Images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601059" y="5629275"/>
            <a:ext cx="600059" cy="228600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01059" y="5629275"/>
            <a:ext cx="6000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5803D"/>
                </a:solidFill>
                <a:latin typeface="Apple Color Emoji"/>
                <a:rFonts ascii="Apple Color Emoji" hAnsi="Apple Color Emoji" eastAsia="Apple Color Emoji" cs="Apple Color Emoji"/>
              </a:rPr>
              <a:t>+100%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1619250"/>
            <a:ext cx="5333866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1560"/>
              </a:spcAft>
            </a:pPr>
            <a:r>
              <a:rPr sz="2152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Classification vs Detection</a:t>
            </a:r>
            <a:r>
              <a:rPr sz="1104"/>
              <a:t>
</a:t>
            </a:r>
            <a:r>
              <a:rPr sz="2152" b="1">
                <a:solidFill>
                  <a:srgbClr val="2E90FA"/>
                </a:solidFill>
                <a:latin typeface="Apple Color Emoji"/>
                <a:rFonts ascii="Apple Color Emoji" hAnsi="Apple Color Emoji" eastAsia="Apple Color Emoji" cs="Apple Color Emoji"/>
              </a:rPr>
              <a:t>Approaches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980" y="2609850"/>
            <a:ext cx="609584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980" y="2952750"/>
            <a:ext cx="5333866" cy="838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2080"/>
              </a:spcAft>
            </a:pPr>
            <a:r>
              <a:rPr sz="1076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Understanding the fundamental difference between identifying the presence of an object and pinpointing its location.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1980" y="4095749"/>
            <a:ext cx="5333866" cy="1143000"/>
          </a:xfrm>
          <a:prstGeom prst="roundRect">
            <a:avLst>
              <a:gd name="adj" fmla="val 6666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256520" y="4601209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E9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674" y="4324349"/>
            <a:ext cx="48385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Core Difference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674" y="4629150"/>
            <a:ext cx="4838579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Classification answers "What?", while Detection answers "What and Where?".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53036" y="723900"/>
            <a:ext cx="4876678" cy="2590799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255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67353" y="1581149"/>
            <a:ext cx="800079" cy="885825"/>
          </a:xfrm>
          <a:prstGeom prst="roundRect">
            <a:avLst>
              <a:gd name="adj" fmla="val 2380714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095947" y="1893832"/>
            <a:ext cx="342891" cy="2128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96027" y="1447800"/>
            <a:ext cx="321936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6027" y="1828800"/>
            <a:ext cx="3219369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Predicts only the class label. Determines if glasses are present.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6027" y="2400300"/>
            <a:ext cx="321936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1">
                <a:solidFill>
                  <a:srgbClr val="2E90FA"/>
                </a:solidFill>
                <a:latin typeface="JetBrains Mono"/>
                <a:rFonts ascii="JetBrains Mono" hAnsi="JetBrains Mono" eastAsia="JetBrains Mono" cs="JetBrains Mono"/>
              </a:rPr>
              <a:t>Output: "Glasses" or "No Glasses"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3036" y="3543300"/>
            <a:ext cx="4876678" cy="2590799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8255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67353" y="4400550"/>
            <a:ext cx="800079" cy="885825"/>
          </a:xfrm>
          <a:prstGeom prst="roundRect">
            <a:avLst>
              <a:gd name="adj" fmla="val 2380714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095947" y="4686628"/>
            <a:ext cx="342891" cy="26604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96027" y="4267199"/>
            <a:ext cx="321936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6027" y="4648200"/>
            <a:ext cx="3219369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Predicts class and location. Draws bounding boxes.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6027" y="5219700"/>
            <a:ext cx="321936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1">
                <a:solidFill>
                  <a:srgbClr val="10B981"/>
                </a:solidFill>
                <a:latin typeface="JetBrains Mono"/>
                <a:rFonts ascii="JetBrains Mono" hAnsi="JetBrains Mono" eastAsia="JetBrains Mono" cs="JetBrains Mono"/>
              </a:rPr>
              <a:t>Output: "Glasses" + [x, y, w, h]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571500"/>
            <a:ext cx="1066773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2080"/>
              </a:spcAft>
            </a:pPr>
            <a:r>
              <a:rPr sz="2152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Convolutional Neural Networks </a:t>
            </a:r>
            <a:r>
              <a:rPr sz="2152" b="0">
                <a:solidFill>
                  <a:srgbClr val="9CA3AF"/>
                </a:solidFill>
                <a:latin typeface="Apple Color Emoji"/>
                <a:rFonts ascii="Apple Color Emoji" hAnsi="Apple Color Emoji" eastAsia="Apple Color Emoji" cs="Apple Color Emoji"/>
              </a:rPr>
              <a:t>| CNN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80" y="12573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Architecture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1980" y="1676400"/>
            <a:ext cx="5181470" cy="4572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377" y="1828800"/>
            <a:ext cx="4876678" cy="361949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5600700"/>
            <a:ext cx="1133446" cy="495299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575" y="5676900"/>
            <a:ext cx="9810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75" y="5829300"/>
            <a:ext cx="9810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224x224x3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62120" y="5600700"/>
            <a:ext cx="1133446" cy="495299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38319" y="5676900"/>
            <a:ext cx="9810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Feature Maps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8319" y="5829300"/>
            <a:ext cx="9810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Conv+ReLU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9864" y="5600700"/>
            <a:ext cx="1133446" cy="495299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6062" y="5676900"/>
            <a:ext cx="9810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Compressed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6062" y="5829300"/>
            <a:ext cx="9810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Pooling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57608" y="5600700"/>
            <a:ext cx="1133446" cy="495299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3806" y="5676900"/>
            <a:ext cx="9810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3806" y="5829300"/>
            <a:ext cx="9810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Class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243" y="12573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Key Advantages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8243" y="1676400"/>
            <a:ext cx="5181470" cy="4572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76838" y="190499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91135" y="2030730"/>
            <a:ext cx="228594" cy="20573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86422" y="1904999"/>
            <a:ext cx="41146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Automatic Feature Extraction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422" y="2171700"/>
            <a:ext cx="4114697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Learns features directly from data without manual engineering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76838" y="27813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91135" y="2947035"/>
            <a:ext cx="228594" cy="12572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86422" y="2781300"/>
            <a:ext cx="38861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High 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422" y="3047999"/>
            <a:ext cx="38861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State-of-the-art performance on image classification tasks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6838" y="34671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91135" y="3614261"/>
            <a:ext cx="228594" cy="16287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86422" y="3467100"/>
            <a:ext cx="41146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Efficient Processing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422" y="3733799"/>
            <a:ext cx="4114697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Parameter sharing and local connectivity reduce computation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76838" y="43434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91135" y="4469129"/>
            <a:ext cx="228594" cy="20573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086422" y="4343400"/>
            <a:ext cx="34384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Reduced Manual 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422" y="4610099"/>
            <a:ext cx="34384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Eliminates need for hand-crafted feature extractors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571500"/>
            <a:ext cx="1066773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2080"/>
              </a:spcAft>
            </a:pPr>
            <a:r>
              <a:rPr sz="2152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MobileNetV2 Architecture </a:t>
            </a:r>
            <a:r>
              <a:rPr sz="2152" b="0">
                <a:solidFill>
                  <a:srgbClr val="9CA3AF"/>
                </a:solidFill>
                <a:latin typeface="Apple Color Emoji"/>
                <a:rFonts ascii="Apple Color Emoji" hAnsi="Apple Color Emoji" eastAsia="Apple Color Emoji" cs="Apple Color Emoji"/>
              </a:rPr>
              <a:t>| Lightweight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80" y="12573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Architecture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1980" y="1676400"/>
            <a:ext cx="5181470" cy="4286250"/>
          </a:xfrm>
          <a:prstGeom prst="roundRect">
            <a:avLst>
              <a:gd name="adj" fmla="val 35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377" y="1828800"/>
            <a:ext cx="4876678" cy="333374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5314950"/>
            <a:ext cx="1133446" cy="495299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575" y="5391150"/>
            <a:ext cx="9810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75" y="5543550"/>
            <a:ext cx="9810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224x224x3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62120" y="5314950"/>
            <a:ext cx="1133446" cy="495299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38319" y="5391150"/>
            <a:ext cx="9810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8319" y="5543550"/>
            <a:ext cx="9810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6x Channels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9864" y="5314950"/>
            <a:ext cx="1133446" cy="495299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6062" y="5391150"/>
            <a:ext cx="9810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Projection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6062" y="5543550"/>
            <a:ext cx="9810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Linear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57608" y="5314950"/>
            <a:ext cx="1133446" cy="495299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3806" y="5391150"/>
            <a:ext cx="9810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3806" y="5543550"/>
            <a:ext cx="9810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1280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243" y="12573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Key Features &amp; Benefits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8243" y="1676400"/>
            <a:ext cx="5181470" cy="4286250"/>
          </a:xfrm>
          <a:prstGeom prst="roundRect">
            <a:avLst>
              <a:gd name="adj" fmla="val 35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76838" y="190499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91135" y="2039302"/>
            <a:ext cx="228594" cy="18859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86422" y="1904999"/>
            <a:ext cx="40575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Inverted Residuals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422" y="2171700"/>
            <a:ext cx="40575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Expand-then-project structure for efficient feature extraction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76838" y="259079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91135" y="2737961"/>
            <a:ext cx="228594" cy="16287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86422" y="2590799"/>
            <a:ext cx="41146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Lightweight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422" y="2857500"/>
            <a:ext cx="4114697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Depthwise separable convolutions reduce parameters significantly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6838" y="34671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91135" y="3607117"/>
            <a:ext cx="228594" cy="1771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86422" y="3467100"/>
            <a:ext cx="36956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Fast Training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422" y="3733799"/>
            <a:ext cx="369560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Efficient architecture enables rapid model convergence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76838" y="415289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91135" y="4272915"/>
            <a:ext cx="228594" cy="21717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086422" y="4152899"/>
            <a:ext cx="37337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Mobile-Friendly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422" y="4419600"/>
            <a:ext cx="37337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Optimized for mobile and embedded vision applications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571500"/>
            <a:ext cx="1066773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3120"/>
              </a:spcAft>
            </a:pPr>
            <a:r>
              <a:rPr sz="2152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Classification Training Process </a:t>
            </a:r>
            <a:r>
              <a:rPr sz="1435" b="0">
                <a:solidFill>
                  <a:srgbClr val="9CA3AF"/>
                </a:solidFill>
                <a:latin typeface="Apple Color Emoji"/>
                <a:rFonts ascii="Apple Color Emoji" hAnsi="Apple Color Emoji" eastAsia="Apple Color Emoji" cs="Apple Color Emoji"/>
              </a:rPr>
              <a:t>|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980" y="1409699"/>
            <a:ext cx="2495487" cy="4286250"/>
          </a:xfrm>
          <a:prstGeom prst="rect">
            <a:avLst/>
          </a:prstGeom>
          <a:solidFill>
            <a:srgbClr val="FFFFFF"/>
          </a:solidFill>
          <a:ln w="3302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95507" y="1600200"/>
            <a:ext cx="40956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3F4F6"/>
                </a:solidFill>
                <a:latin typeface="JetBrains Mono"/>
                <a:rFonts ascii="JetBrains Mono" hAnsi="JetBrains Mono" eastAsia="JetBrains Mono" cs="JetBrains Mon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75" y="1752599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1040"/>
              </a:spcAft>
            </a:pPr>
            <a:r>
              <a:rPr sz="119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Data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75" y="2171700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Original: </a:t>
            </a:r>
            <a:r>
              <a:rPr sz="837" b="1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150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 Images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90575" y="2246376"/>
            <a:ext cx="133346" cy="1173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575" y="2552700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Augmented: </a:t>
            </a:r>
            <a:r>
              <a:rPr sz="837" b="1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1000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 Images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90575" y="2624708"/>
            <a:ext cx="133346" cy="1226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0575" y="2933699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Rotation, Flip, Zoom, Blur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90575" y="3013709"/>
            <a:ext cx="133346" cy="106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90575" y="5238749"/>
            <a:ext cx="952476" cy="228600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0575" y="5238749"/>
            <a:ext cx="9524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5803D"/>
                </a:solidFill>
                <a:latin typeface="Apple Color Emoji"/>
                <a:rFonts ascii="Apple Color Emoji" hAnsi="Apple Color Emoji" eastAsia="Apple Color Emoji" cs="Apple Color Emoji"/>
              </a:rPr>
              <a:t>DATA READY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86062" y="1409699"/>
            <a:ext cx="2495487" cy="4286250"/>
          </a:xfrm>
          <a:prstGeom prst="rect">
            <a:avLst/>
          </a:prstGeom>
          <a:solidFill>
            <a:srgbClr val="FFFFFF"/>
          </a:solidFill>
          <a:ln w="3302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9589" y="1600200"/>
            <a:ext cx="40956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3F4F6"/>
                </a:solidFill>
                <a:latin typeface="JetBrains Mono"/>
                <a:rFonts ascii="JetBrains Mono" hAnsi="JetBrains Mono" eastAsia="JetBrains Mono" cs="JetBrains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4657" y="1752599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1040"/>
              </a:spcAft>
            </a:pPr>
            <a:r>
              <a:rPr sz="119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4657" y="2171700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Train / Val / Test Split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714657" y="2246376"/>
            <a:ext cx="133346" cy="1173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714657" y="2552700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Image Resizing (224x224)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714657" y="2632710"/>
            <a:ext cx="133346" cy="106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714657" y="2933699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Normalization (0-1 Range)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714657" y="3056858"/>
            <a:ext cx="133346" cy="2038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714657" y="5238749"/>
            <a:ext cx="914377" cy="228600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4657" y="5238749"/>
            <a:ext cx="9143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E3A8A"/>
                </a:solidFill>
                <a:latin typeface="Apple Color Emoji"/>
                <a:rFonts ascii="Apple Color Emoji" hAnsi="Apple Color Emoji" eastAsia="Apple Color Emoji" cs="Apple Color Emoji"/>
              </a:rPr>
              <a:t>PROCESSED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0144" y="1409699"/>
            <a:ext cx="2495487" cy="4286250"/>
          </a:xfrm>
          <a:prstGeom prst="rect">
            <a:avLst/>
          </a:prstGeom>
          <a:solidFill>
            <a:srgbClr val="FFFFFF"/>
          </a:solidFill>
          <a:ln w="33020">
            <a:solidFill>
              <a:srgbClr val="2E9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3671" y="1600200"/>
            <a:ext cx="40956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3F4F6"/>
                </a:solidFill>
                <a:latin typeface="JetBrains Mono"/>
                <a:rFonts ascii="JetBrains Mono" hAnsi="JetBrains Mono" eastAsia="JetBrains Mono" cs="JetBrains Mon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8739" y="1752599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1040"/>
              </a:spcAft>
            </a:pPr>
            <a:r>
              <a:rPr sz="119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8739" y="2171700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Model: </a:t>
            </a:r>
            <a:r>
              <a:rPr sz="837" b="1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MobileNetV2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38739" y="2246376"/>
            <a:ext cx="133346" cy="1173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38739" y="2552700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Optimizer: </a:t>
            </a:r>
            <a:r>
              <a:rPr sz="837" b="1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Adam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38739" y="2632710"/>
            <a:ext cx="133346" cy="1066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38739" y="2933699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Loss: Binary Crossentropy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38739" y="3016377"/>
            <a:ext cx="133346" cy="101346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438739" y="5238749"/>
            <a:ext cx="1019149" cy="228600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8739" y="5238749"/>
            <a:ext cx="10191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2E90FA"/>
                </a:solidFill>
                <a:latin typeface="Apple Color Emoji"/>
                <a:rFonts ascii="Apple Color Emoji" hAnsi="Apple Color Emoji" eastAsia="Apple Color Emoji" cs="Apple Color Emoji"/>
              </a:rPr>
              <a:t>IN PROGRESS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34226" y="1409699"/>
            <a:ext cx="2495487" cy="4286250"/>
          </a:xfrm>
          <a:prstGeom prst="rect">
            <a:avLst/>
          </a:prstGeom>
          <a:solidFill>
            <a:srgbClr val="FFFFFF"/>
          </a:solidFill>
          <a:ln w="330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67753" y="1600200"/>
            <a:ext cx="40956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3F4F6"/>
                </a:solidFill>
                <a:latin typeface="JetBrains Mono"/>
                <a:rFonts ascii="JetBrains Mono" hAnsi="JetBrains Mono" eastAsia="JetBrains Mono" cs="JetBrains Mono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820" y="1752599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1040"/>
              </a:spcAft>
            </a:pPr>
            <a:r>
              <a:rPr sz="119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Evaluation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820" y="2171700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Validation &amp; Testing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162820" y="2246376"/>
            <a:ext cx="133346" cy="11734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162820" y="2552700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Accuracy, Precision, Recall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9162820" y="2640711"/>
            <a:ext cx="133346" cy="9067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162820" y="2933699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File: </a:t>
            </a:r>
            <a:r>
              <a:rPr sz="717" b="1">
                <a:solidFill>
                  <a:srgbClr val="4B5563"/>
                </a:solidFill>
                <a:latin typeface="JetBrains Mono"/>
                <a:rFonts ascii="JetBrains Mono" hAnsi="JetBrains Mono" eastAsia="JetBrains Mono" cs="JetBrains Mono"/>
              </a:rPr>
              <a:t>glasses_classifier.h5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9162820" y="3013709"/>
            <a:ext cx="133346" cy="10668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9162820" y="5238749"/>
            <a:ext cx="933426" cy="228600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62820" y="5238749"/>
            <a:ext cx="9334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5803D"/>
                </a:solidFill>
                <a:latin typeface="Apple Color Emoji"/>
                <a:rFonts ascii="Apple Color Emoji" hAnsi="Apple Color Emoji" eastAsia="Apple Color Emoji" cs="Apple Color Emoji"/>
              </a:rPr>
              <a:t>COMPLETED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571500"/>
            <a:ext cx="10667733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2080"/>
              </a:spcAft>
            </a:pPr>
            <a:r>
              <a:rPr sz="2152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Faster R-CNN Detection Architecture </a:t>
            </a:r>
            <a:r>
              <a:rPr sz="2152" b="0">
                <a:solidFill>
                  <a:srgbClr val="9CA3AF"/>
                </a:solidFill>
                <a:latin typeface="Apple Color Emoji"/>
                <a:rFonts ascii="Apple Color Emoji" hAnsi="Apple Color Emoji" eastAsia="Apple Color Emoji" cs="Apple Color Emoji"/>
              </a:rPr>
              <a:t>| Two-Stage Detector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80" y="163829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Architecture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1980" y="2057400"/>
            <a:ext cx="5181470" cy="4286250"/>
          </a:xfrm>
          <a:prstGeom prst="roundRect">
            <a:avLst>
              <a:gd name="adj" fmla="val 35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377" y="2209800"/>
            <a:ext cx="4876678" cy="333374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5695949"/>
            <a:ext cx="1133446" cy="495299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575" y="5772150"/>
            <a:ext cx="9810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75" y="5924549"/>
            <a:ext cx="9810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62120" y="5695949"/>
            <a:ext cx="1133446" cy="495299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38319" y="5772150"/>
            <a:ext cx="9810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Backbone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8319" y="5924549"/>
            <a:ext cx="9810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ResNet50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9864" y="5695949"/>
            <a:ext cx="1133446" cy="495299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6062" y="5772150"/>
            <a:ext cx="9810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RPN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6062" y="5924549"/>
            <a:ext cx="9810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Proposals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57608" y="5695949"/>
            <a:ext cx="1133446" cy="495299"/>
          </a:xfrm>
          <a:prstGeom prst="roundRect">
            <a:avLst>
              <a:gd name="adj" fmla="val 1538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3806" y="5772150"/>
            <a:ext cx="9810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3806" y="5924549"/>
            <a:ext cx="9810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BBox+Class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243" y="163829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Key Components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8243" y="2057400"/>
            <a:ext cx="5181470" cy="4286250"/>
          </a:xfrm>
          <a:prstGeom prst="roundRect">
            <a:avLst>
              <a:gd name="adj" fmla="val 35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76838" y="22860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91135" y="2420302"/>
            <a:ext cx="228594" cy="18859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86422" y="2286000"/>
            <a:ext cx="378133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ResNet50 Backbone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422" y="2552700"/>
            <a:ext cx="37813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Deep feature extraction network for rich representations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76838" y="29718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91135" y="3111817"/>
            <a:ext cx="228594" cy="1771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86422" y="2971800"/>
            <a:ext cx="36575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Region Proposal 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422" y="3238500"/>
            <a:ext cx="36575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Generates object proposals directly from feature maps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6838" y="36576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91135" y="3777614"/>
            <a:ext cx="228594" cy="21717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86422" y="3657600"/>
            <a:ext cx="33622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ROI Pooling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422" y="3924299"/>
            <a:ext cx="33622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Fixed-size feature extraction from variable regions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76838" y="43434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91135" y="4474845"/>
            <a:ext cx="228594" cy="19430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086422" y="4343400"/>
            <a:ext cx="378133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High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422" y="4610099"/>
            <a:ext cx="37813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Strong object localization and classification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571500"/>
            <a:ext cx="1066773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3120"/>
              </a:spcAft>
            </a:pPr>
            <a:r>
              <a:rPr sz="2152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Detection Training Process </a:t>
            </a:r>
            <a:r>
              <a:rPr sz="1435" b="0">
                <a:solidFill>
                  <a:srgbClr val="9CA3AF"/>
                </a:solidFill>
                <a:latin typeface="Apple Color Emoji"/>
                <a:rFonts ascii="Apple Color Emoji" hAnsi="Apple Color Emoji" eastAsia="Apple Color Emoji" cs="Apple Color Emoji"/>
              </a:rPr>
              <a:t>| Pipeline &amp;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61980" y="1409699"/>
            <a:ext cx="2495487" cy="4286250"/>
          </a:xfrm>
          <a:prstGeom prst="rect">
            <a:avLst/>
          </a:prstGeom>
          <a:solidFill>
            <a:srgbClr val="FFFFFF"/>
          </a:solidFill>
          <a:ln w="3302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95507" y="1600200"/>
            <a:ext cx="40956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3F4F6"/>
                </a:solidFill>
                <a:latin typeface="JetBrains Mono"/>
                <a:rFonts ascii="JetBrains Mono" hAnsi="JetBrains Mono" eastAsia="JetBrains Mono" cs="JetBrains Mon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75" y="1752599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1040"/>
              </a:spcAft>
            </a:pPr>
            <a:r>
              <a:rPr sz="119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Data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75" y="2171700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Original: </a:t>
            </a:r>
            <a:r>
              <a:rPr sz="837" b="1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203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 Images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90575" y="2246376"/>
            <a:ext cx="133346" cy="1173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575" y="2552700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Augmented: </a:t>
            </a:r>
            <a:r>
              <a:rPr sz="837" b="1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1000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 Images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90575" y="2624708"/>
            <a:ext cx="133346" cy="1226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0575" y="2933699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Flip, Rotation, Brightness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90575" y="3013709"/>
            <a:ext cx="133346" cy="106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90575" y="5238749"/>
            <a:ext cx="952476" cy="228600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0575" y="5238749"/>
            <a:ext cx="9524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5803D"/>
                </a:solidFill>
                <a:latin typeface="Apple Color Emoji"/>
                <a:rFonts ascii="Apple Color Emoji" hAnsi="Apple Color Emoji" eastAsia="Apple Color Emoji" cs="Apple Color Emoji"/>
              </a:rPr>
              <a:t>DATA READY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86062" y="1409699"/>
            <a:ext cx="2495487" cy="4286250"/>
          </a:xfrm>
          <a:prstGeom prst="rect">
            <a:avLst/>
          </a:prstGeom>
          <a:solidFill>
            <a:srgbClr val="FFFFFF"/>
          </a:solidFill>
          <a:ln w="3302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9589" y="1600200"/>
            <a:ext cx="40956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3F4F6"/>
                </a:solidFill>
                <a:latin typeface="JetBrains Mono"/>
                <a:rFonts ascii="JetBrains Mono" hAnsi="JetBrains Mono" eastAsia="JetBrains Mono" cs="JetBrains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4657" y="1752599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1040"/>
              </a:spcAft>
            </a:pPr>
            <a:r>
              <a:rPr sz="119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Configuration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4657" y="2171700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Framework: </a:t>
            </a:r>
            <a:r>
              <a:rPr sz="837" b="1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PyTorch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714657" y="2246376"/>
            <a:ext cx="133346" cy="1173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714657" y="2552700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Model: </a:t>
            </a:r>
            <a:r>
              <a:rPr sz="837" b="1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Faster R-CNN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714657" y="2627375"/>
            <a:ext cx="133346" cy="1173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714657" y="2933699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Backbone: </a:t>
            </a:r>
            <a:r>
              <a:rPr sz="837" b="1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ResNet50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714657" y="3011043"/>
            <a:ext cx="133346" cy="112014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714657" y="5238749"/>
            <a:ext cx="1000099" cy="228600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4657" y="5238749"/>
            <a:ext cx="10000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E3A8A"/>
                </a:solidFill>
                <a:latin typeface="Apple Color Emoji"/>
                <a:rFonts ascii="Apple Color Emoji" hAnsi="Apple Color Emoji" eastAsia="Apple Color Emoji" cs="Apple Color Emoji"/>
              </a:rPr>
              <a:t>CONFIGURED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0144" y="1409699"/>
            <a:ext cx="2495487" cy="4286250"/>
          </a:xfrm>
          <a:prstGeom prst="rect">
            <a:avLst/>
          </a:prstGeom>
          <a:solidFill>
            <a:srgbClr val="FFFFFF"/>
          </a:solidFill>
          <a:ln w="33020">
            <a:solidFill>
              <a:srgbClr val="2E9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3671" y="1600200"/>
            <a:ext cx="40956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3F4F6"/>
                </a:solidFill>
                <a:latin typeface="JetBrains Mono"/>
                <a:rFonts ascii="JetBrains Mono" hAnsi="JetBrains Mono" eastAsia="JetBrains Mono" cs="JetBrains Mon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8739" y="1752599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1040"/>
              </a:spcAft>
            </a:pPr>
            <a:r>
              <a:rPr sz="119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8739" y="2171700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Optimizer: </a:t>
            </a:r>
            <a:r>
              <a:rPr sz="837" b="1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Adam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38739" y="2251710"/>
            <a:ext cx="133346" cy="106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38739" y="2552700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Learning Rate: </a:t>
            </a:r>
            <a:r>
              <a:rPr sz="837" b="1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0.0001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38739" y="2636710"/>
            <a:ext cx="133346" cy="9867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38739" y="2933699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Epochs: </a:t>
            </a:r>
            <a:r>
              <a:rPr sz="837" b="1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10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38739" y="3003041"/>
            <a:ext cx="133346" cy="12801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38739" y="3314700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Batch Size: </a:t>
            </a:r>
            <a:r>
              <a:rPr sz="837" b="1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2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38739" y="3402711"/>
            <a:ext cx="133346" cy="90678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438739" y="5238749"/>
            <a:ext cx="781030" cy="228600"/>
          </a:xfrm>
          <a:prstGeom prst="roundRect">
            <a:avLst>
              <a:gd name="adj" fmla="val 33333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38739" y="5238749"/>
            <a:ext cx="7810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59E0B"/>
                </a:solidFill>
                <a:latin typeface="Apple Color Emoji"/>
                <a:rFonts ascii="Apple Color Emoji" hAnsi="Apple Color Emoji" eastAsia="Apple Color Emoji" cs="Apple Color Emoji"/>
              </a:rPr>
              <a:t>TRAINING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34226" y="1409699"/>
            <a:ext cx="2495487" cy="4286250"/>
          </a:xfrm>
          <a:prstGeom prst="rect">
            <a:avLst/>
          </a:prstGeom>
          <a:solidFill>
            <a:srgbClr val="FFFFFF"/>
          </a:solidFill>
          <a:ln w="330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67753" y="1600200"/>
            <a:ext cx="40956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3F4F6"/>
                </a:solidFill>
                <a:latin typeface="JetBrains Mono"/>
                <a:rFonts ascii="JetBrains Mono" hAnsi="JetBrains Mono" eastAsia="JetBrains Mono" cs="JetBrains Mono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2820" y="1752599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1040"/>
              </a:spcAft>
            </a:pPr>
            <a:r>
              <a:rPr sz="119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Evaluation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62820" y="2171700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Precision &amp; Recall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9162820" y="2251710"/>
            <a:ext cx="133346" cy="1066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162820" y="2552700"/>
            <a:ext cx="2038299" cy="228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IoU &amp; mAP Metrics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9162820" y="2632710"/>
            <a:ext cx="133346" cy="10668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162820" y="2933699"/>
            <a:ext cx="2038299" cy="3809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Model: </a:t>
            </a:r>
            <a:r>
              <a:rPr sz="717" b="1">
                <a:solidFill>
                  <a:srgbClr val="4B5563"/>
                </a:solidFill>
                <a:latin typeface="JetBrains Mono"/>
                <a:rFonts ascii="JetBrains Mono" hAnsi="JetBrains Mono" eastAsia="JetBrains Mono" cs="JetBrains Mono"/>
              </a:rPr>
              <a:t>faster_rcnn_glasses.pth</a:t>
            </a:r>
            <a:r>
              <a:rPr sz="956" b="0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9162820" y="3013709"/>
            <a:ext cx="133346" cy="106680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9162820" y="5238749"/>
            <a:ext cx="933426" cy="228600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62820" y="5238749"/>
            <a:ext cx="9334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5803D"/>
                </a:solidFill>
                <a:latin typeface="Apple Color Emoji"/>
                <a:rFonts ascii="Apple Color Emoji" hAnsi="Apple Color Emoji" eastAsia="Apple Color Emoji" cs="Apple Color Emoji"/>
              </a:rPr>
              <a:t>COMPLETED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571500"/>
            <a:ext cx="1066773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2080"/>
              </a:spcAft>
            </a:pPr>
            <a:r>
              <a:rPr sz="2152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Classification Results </a:t>
            </a:r>
            <a:r>
              <a:rPr sz="1435" b="0">
                <a:solidFill>
                  <a:srgbClr val="9CA3AF"/>
                </a:solidFill>
                <a:latin typeface="Apple Color Emoji"/>
                <a:rFonts ascii="Apple Color Emoji" hAnsi="Apple Color Emoji" eastAsia="Apple Color Emoji" cs="Apple Color Emoji"/>
              </a:rPr>
              <a:t>| MobileNetV2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80" y="12573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Prediction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1980" y="1752599"/>
            <a:ext cx="2514537" cy="3047999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6298" y="1904999"/>
            <a:ext cx="1885902" cy="209549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4114800"/>
            <a:ext cx="2209744" cy="533399"/>
          </a:xfrm>
          <a:prstGeom prst="roundRect">
            <a:avLst>
              <a:gd name="adj" fmla="val 14285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674" y="4210049"/>
            <a:ext cx="7524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5803D"/>
                </a:solidFill>
                <a:latin typeface="Apple Color Emoji"/>
                <a:rFonts ascii="Apple Color Emoji" hAnsi="Apple Color Emoji" eastAsia="Apple Color Emoji" cs="Apple Color Emoji"/>
              </a:rPr>
              <a:t>Prediction: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1130" y="4210049"/>
            <a:ext cx="51433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Glasses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674" y="4419600"/>
            <a:ext cx="19811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JetBrains Mono"/>
                <a:rFonts ascii="JetBrains Mono" hAnsi="JetBrains Mono" eastAsia="JetBrains Mono" cs="JetBrains Mono"/>
              </a:rPr>
              <a:t>Value: 0.253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8914" y="1752599"/>
            <a:ext cx="2514537" cy="3047999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52756" y="1904999"/>
            <a:ext cx="1857328" cy="209549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81310" y="4114800"/>
            <a:ext cx="2209744" cy="533399"/>
          </a:xfrm>
          <a:prstGeom prst="roundRect">
            <a:avLst>
              <a:gd name="adj" fmla="val 1428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5607" y="4210049"/>
            <a:ext cx="7524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D4ED8"/>
                </a:solidFill>
                <a:latin typeface="Apple Color Emoji"/>
                <a:rFonts ascii="Apple Color Emoji" hAnsi="Apple Color Emoji" eastAsia="Apple Color Emoji" cs="Apple Color Emoji"/>
              </a:rPr>
              <a:t>Prediction: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8063" y="4210049"/>
            <a:ext cx="7334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No Glasses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5607" y="4419600"/>
            <a:ext cx="19811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JetBrains Mono"/>
                <a:rFonts ascii="JetBrains Mono" hAnsi="JetBrains Mono" eastAsia="JetBrains Mono" cs="JetBrains Mono"/>
              </a:rPr>
              <a:t>Value: 0.0017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243" y="12573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Model 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243" y="1600200"/>
            <a:ext cx="5181470" cy="5010149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639" y="1752599"/>
            <a:ext cx="4876678" cy="390524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639" y="5810249"/>
            <a:ext cx="2362140" cy="647699"/>
          </a:xfrm>
          <a:prstGeom prst="roundRect">
            <a:avLst>
              <a:gd name="adj" fmla="val 1176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4937" y="5924549"/>
            <a:ext cx="213354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Training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4937" y="6076950"/>
            <a:ext cx="21335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0.92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177" y="5810249"/>
            <a:ext cx="2362140" cy="647699"/>
          </a:xfrm>
          <a:prstGeom prst="roundRect">
            <a:avLst>
              <a:gd name="adj" fmla="val 1176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29474" y="5924549"/>
            <a:ext cx="213354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Validation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9474" y="6076950"/>
            <a:ext cx="21335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0.85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571500"/>
            <a:ext cx="1066773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2080"/>
              </a:spcAft>
            </a:pPr>
            <a:r>
              <a:rPr sz="2152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Classification Results </a:t>
            </a:r>
            <a:r>
              <a:rPr sz="1435" b="0">
                <a:solidFill>
                  <a:srgbClr val="9CA3AF"/>
                </a:solidFill>
                <a:latin typeface="Apple Color Emoji"/>
                <a:rFonts ascii="Apple Color Emoji" hAnsi="Apple Color Emoji" eastAsia="Apple Color Emoji" cs="Apple Color Emoji"/>
              </a:rPr>
              <a:t>| Performance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1980" y="1257300"/>
            <a:ext cx="5143371" cy="596265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575" y="1485900"/>
            <a:ext cx="46861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Classification Confusion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0575" y="1904999"/>
            <a:ext cx="4686182" cy="333374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0575" y="5467349"/>
            <a:ext cx="2266893" cy="685800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872" y="5581649"/>
            <a:ext cx="20382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True 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72" y="5772150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9864" y="5467349"/>
            <a:ext cx="2266893" cy="685800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4161" y="5581649"/>
            <a:ext cx="20382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True Negatives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4161" y="5772150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0575" y="6305550"/>
            <a:ext cx="2266893" cy="685800"/>
          </a:xfrm>
          <a:prstGeom prst="roundRect">
            <a:avLst>
              <a:gd name="adj" fmla="val 1111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872" y="6419850"/>
            <a:ext cx="20382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False Positives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72" y="6610349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9864" y="6305550"/>
            <a:ext cx="2266893" cy="685800"/>
          </a:xfrm>
          <a:prstGeom prst="roundRect">
            <a:avLst>
              <a:gd name="adj" fmla="val 11111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4161" y="6419850"/>
            <a:ext cx="20382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False Negatives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4161" y="6610349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6342" y="1257300"/>
            <a:ext cx="5143371" cy="596265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4937" y="1485900"/>
            <a:ext cx="46861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Classification Metrics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4937" y="1904999"/>
            <a:ext cx="4686182" cy="333374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14937" y="5467349"/>
            <a:ext cx="1057248" cy="6858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234" y="5581649"/>
            <a:ext cx="8286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234" y="5772150"/>
            <a:ext cx="8286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0.80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4581" y="5467349"/>
            <a:ext cx="1057248" cy="6858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8879" y="5581649"/>
            <a:ext cx="8286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Precision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8879" y="5772150"/>
            <a:ext cx="8286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0.80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34226" y="5467349"/>
            <a:ext cx="1057248" cy="6858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48523" y="5581649"/>
            <a:ext cx="8286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Recall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8523" y="5772150"/>
            <a:ext cx="8286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0.80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43871" y="5467349"/>
            <a:ext cx="1057248" cy="6858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58168" y="5581649"/>
            <a:ext cx="8286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F1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58168" y="5772150"/>
            <a:ext cx="8286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0.80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571500"/>
            <a:ext cx="1066773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2080"/>
              </a:spcAft>
            </a:pPr>
            <a:r>
              <a:rPr sz="2152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Detection Results </a:t>
            </a:r>
            <a:r>
              <a:rPr sz="1435" b="0">
                <a:solidFill>
                  <a:srgbClr val="9CA3AF"/>
                </a:solidFill>
                <a:latin typeface="Apple Color Emoji"/>
                <a:rFonts ascii="Apple Color Emoji" hAnsi="Apple Color Emoji" eastAsia="Apple Color Emoji" cs="Apple Color Emoji"/>
              </a:rPr>
              <a:t>| Faster R-CNN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80" y="12573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Detection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1980" y="1676400"/>
            <a:ext cx="5181470" cy="4572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377" y="1828800"/>
            <a:ext cx="4876678" cy="26670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4648200"/>
            <a:ext cx="1104872" cy="647699"/>
          </a:xfrm>
          <a:prstGeom prst="roundRect">
            <a:avLst>
              <a:gd name="adj" fmla="val 1176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674" y="4762500"/>
            <a:ext cx="87627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674" y="4914900"/>
            <a:ext cx="8762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1.00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71645" y="4648200"/>
            <a:ext cx="1104872" cy="647699"/>
          </a:xfrm>
          <a:prstGeom prst="roundRect">
            <a:avLst>
              <a:gd name="adj" fmla="val 1176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5942" y="4762500"/>
            <a:ext cx="87627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5942" y="4914900"/>
            <a:ext cx="8762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1.00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8914" y="4648200"/>
            <a:ext cx="1104872" cy="647699"/>
          </a:xfrm>
          <a:prstGeom prst="roundRect">
            <a:avLst>
              <a:gd name="adj" fmla="val 11764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3211" y="4762500"/>
            <a:ext cx="87627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F1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3211" y="4914900"/>
            <a:ext cx="8762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1.00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6182" y="4648200"/>
            <a:ext cx="1104872" cy="647699"/>
          </a:xfrm>
          <a:prstGeom prst="roundRect">
            <a:avLst>
              <a:gd name="adj" fmla="val 11764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479" y="4762500"/>
            <a:ext cx="87627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IoU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479" y="4914900"/>
            <a:ext cx="8762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0.80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243" y="12573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Detection Confusion Matrix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8243" y="1676400"/>
            <a:ext cx="5181470" cy="4572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639" y="1828800"/>
            <a:ext cx="4876678" cy="26670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639" y="4648200"/>
            <a:ext cx="2362140" cy="647699"/>
          </a:xfrm>
          <a:prstGeom prst="roundRect">
            <a:avLst>
              <a:gd name="adj" fmla="val 1176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4937" y="4762500"/>
            <a:ext cx="213354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True Positives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4937" y="4914900"/>
            <a:ext cx="21335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177" y="4648200"/>
            <a:ext cx="2362140" cy="647699"/>
          </a:xfrm>
          <a:prstGeom prst="roundRect">
            <a:avLst>
              <a:gd name="adj" fmla="val 1176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29474" y="4762500"/>
            <a:ext cx="213354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True Negatives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9474" y="4914900"/>
            <a:ext cx="21335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639" y="5448300"/>
            <a:ext cx="2362140" cy="647699"/>
          </a:xfrm>
          <a:prstGeom prst="roundRect">
            <a:avLst>
              <a:gd name="adj" fmla="val 1176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4937" y="5562600"/>
            <a:ext cx="213354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False Positives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4937" y="5715000"/>
            <a:ext cx="21335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15177" y="5448300"/>
            <a:ext cx="2362140" cy="647699"/>
          </a:xfrm>
          <a:prstGeom prst="roundRect">
            <a:avLst>
              <a:gd name="adj" fmla="val 11764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29474" y="5562600"/>
            <a:ext cx="213354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False Negatives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9474" y="5715000"/>
            <a:ext cx="21335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571500"/>
            <a:ext cx="1066773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2080"/>
              </a:spcAft>
            </a:pPr>
            <a:r>
              <a:rPr sz="2152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Detection Results </a:t>
            </a:r>
            <a:r>
              <a:rPr sz="1435" b="0">
                <a:solidFill>
                  <a:srgbClr val="9CA3AF"/>
                </a:solidFill>
                <a:latin typeface="Apple Color Emoji"/>
                <a:rFonts ascii="Apple Color Emoji" hAnsi="Apple Color Emoji" eastAsia="Apple Color Emoji" cs="Apple Color Emoji"/>
              </a:rPr>
              <a:t>| Training &amp; Real-Time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80" y="1257300"/>
            <a:ext cx="34003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Training Loss Curve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1980" y="1676400"/>
            <a:ext cx="3400339" cy="4533900"/>
          </a:xfrm>
          <a:prstGeom prst="roundRect">
            <a:avLst>
              <a:gd name="adj" fmla="val 44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377" y="1828800"/>
            <a:ext cx="3095547" cy="209549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4076699"/>
            <a:ext cx="1476338" cy="647699"/>
          </a:xfrm>
          <a:prstGeom prst="roundRect">
            <a:avLst>
              <a:gd name="adj" fmla="val 1176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674" y="4190999"/>
            <a:ext cx="12477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Initial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674" y="4343400"/>
            <a:ext cx="12477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0.376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3111" y="4076699"/>
            <a:ext cx="1476338" cy="647699"/>
          </a:xfrm>
          <a:prstGeom prst="roundRect">
            <a:avLst>
              <a:gd name="adj" fmla="val 1176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7408" y="4190999"/>
            <a:ext cx="12477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Final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7408" y="4343400"/>
            <a:ext cx="12477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0.368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0915" y="1257300"/>
            <a:ext cx="34003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Detection Example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0915" y="1676400"/>
            <a:ext cx="3400339" cy="4533900"/>
          </a:xfrm>
          <a:prstGeom prst="roundRect">
            <a:avLst>
              <a:gd name="adj" fmla="val 44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43311" y="1828800"/>
            <a:ext cx="3095547" cy="209549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43311" y="4076699"/>
            <a:ext cx="3095547" cy="57150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657608" y="4285297"/>
            <a:ext cx="228594" cy="1543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00499" y="4190999"/>
            <a:ext cx="93342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Detected Object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0499" y="4343400"/>
            <a:ext cx="9334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Glasses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3311" y="4800600"/>
            <a:ext cx="3095547" cy="57150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657608" y="4989194"/>
            <a:ext cx="228594" cy="19430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00499" y="4914900"/>
            <a:ext cx="10000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Confidence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0499" y="5067299"/>
            <a:ext cx="10000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0.98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9374" y="1257300"/>
            <a:ext cx="34003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07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Detection Example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9374" y="1676400"/>
            <a:ext cx="3400339" cy="4533900"/>
          </a:xfrm>
          <a:prstGeom prst="roundRect">
            <a:avLst>
              <a:gd name="adj" fmla="val 44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81770" y="1828800"/>
            <a:ext cx="3095547" cy="2095499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81770" y="4076699"/>
            <a:ext cx="3095547" cy="57150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96067" y="4285297"/>
            <a:ext cx="228594" cy="15430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638959" y="4190999"/>
            <a:ext cx="93342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Detected Object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8959" y="4343400"/>
            <a:ext cx="9334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Glasses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1770" y="4800600"/>
            <a:ext cx="3095547" cy="57150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296067" y="4989194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638959" y="4914900"/>
            <a:ext cx="10000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Confidence 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38959" y="5067299"/>
            <a:ext cx="10000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A2540"/>
                </a:solidFill>
                <a:latin typeface="JetBrains Mono"/>
                <a:rFonts ascii="JetBrains Mono" hAnsi="JetBrains Mono" eastAsia="JetBrains Mono" cs="JetBrains Mono"/>
              </a:rPr>
              <a:t>1.00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76698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76698" cy="6858000"/>
          </a:xfrm>
          <a:prstGeom prst="rect">
            <a:avLst/>
          </a:prstGeom>
          <a:solidFill>
            <a:srgbClr val="0A254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76698" y="0"/>
            <a:ext cx="711499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86282" y="1485900"/>
            <a:ext cx="58958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040"/>
              </a:spcAft>
            </a:pPr>
            <a:r>
              <a:rPr sz="837" b="1">
                <a:solidFill>
                  <a:srgbClr val="2E90FA"/>
                </a:solidFill>
                <a:latin typeface="Apple Color Emoji"/>
                <a:rFonts ascii="Apple Color Emoji" hAnsi="Apple Color Emoji" eastAsia="Apple Color Emoji" cs="Apple Color Emoji"/>
              </a:rPr>
              <a:t>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86282" y="1828800"/>
            <a:ext cx="589582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2080"/>
              </a:spcAft>
            </a:pPr>
            <a:r>
              <a:rPr sz="2152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Streamlit 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86282" y="25146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800579" y="2646045"/>
            <a:ext cx="228594" cy="194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95867" y="2514600"/>
            <a:ext cx="30764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Interactive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5867" y="2781300"/>
            <a:ext cx="30764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Upload images or use real-time webcam feed.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86282" y="32004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800579" y="3357562"/>
            <a:ext cx="228594" cy="142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95867" y="3200400"/>
            <a:ext cx="34479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Dual Modes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5867" y="3467100"/>
            <a:ext cx="34479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Switch between Classification &amp; Detection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86282" y="38862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800579" y="4037647"/>
            <a:ext cx="228594" cy="1543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95867" y="3886200"/>
            <a:ext cx="36765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Apple Color Emoji"/>
                <a:rFonts ascii="Apple Color Emoji" hAnsi="Apple Color Emoji" eastAsia="Apple Color Emoji" cs="Apple Color Emoji"/>
              </a:rPr>
              <a:t>Rich Visualization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5867" y="4152899"/>
            <a:ext cx="36765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Bounding boxes, confidence scores, and labels overlay.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6282" y="4876800"/>
            <a:ext cx="58958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780"/>
              </a:spcAft>
            </a:pPr>
            <a:r>
              <a:rPr sz="717" b="0">
                <a:solidFill>
                  <a:srgbClr val="9CA3AF"/>
                </a:solidFill>
                <a:latin typeface="Apple Color Emoji"/>
                <a:rFonts ascii="Apple Color Emoji" hAnsi="Apple Color Emoji" eastAsia="Apple Color Emoji" cs="Apple Color Emoji"/>
              </a:rPr>
              <a:t>TECHNOLOGY STACK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86282" y="5143500"/>
            <a:ext cx="628634" cy="228600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86282" y="5143500"/>
            <a:ext cx="6286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Python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29214" y="5143500"/>
            <a:ext cx="857228" cy="228600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9214" y="5143500"/>
            <a:ext cx="8572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TensorFlow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0739" y="5143500"/>
            <a:ext cx="666733" cy="228600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0739" y="5143500"/>
            <a:ext cx="6667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PyTorch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1770" y="5143500"/>
            <a:ext cx="695307" cy="228600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1770" y="5143500"/>
            <a:ext cx="69530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OpenCV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91375" y="5143500"/>
            <a:ext cx="752456" cy="228600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91375" y="5143500"/>
            <a:ext cx="7524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Streamlit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80" y="571500"/>
            <a:ext cx="1066773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2080"/>
              </a:spcAft>
            </a:pPr>
            <a:r>
              <a:rPr sz="2152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Streamlit Application Demo </a:t>
            </a:r>
            <a:r>
              <a:rPr sz="1435" b="0">
                <a:solidFill>
                  <a:srgbClr val="9CA3AF"/>
                </a:solidFill>
                <a:latin typeface="Apple Color Emoji"/>
                <a:rFonts ascii="Apple Color Emoji" hAnsi="Apple Color Emoji" eastAsia="Apple Color Emoji" cs="Apple Color Emoji"/>
              </a:rPr>
              <a:t>| Live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1980" y="1257300"/>
            <a:ext cx="5181470" cy="4952999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52476" y="1537335"/>
            <a:ext cx="228594" cy="1257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367" y="1466849"/>
            <a:ext cx="31907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Real-Time Classification Mode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2476" y="1904999"/>
            <a:ext cx="4800479" cy="2667000"/>
          </a:xfrm>
          <a:prstGeom prst="roundRect">
            <a:avLst>
              <a:gd name="adj" fmla="val 5714"/>
            </a:avLst>
          </a:prstGeom>
          <a:solidFill>
            <a:srgbClr val="F9FAFB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2476" y="1904999"/>
            <a:ext cx="4800479" cy="26670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2476" y="4724399"/>
            <a:ext cx="2343091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28674" y="4850511"/>
            <a:ext cx="133346" cy="906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8219" y="4800600"/>
            <a:ext cx="12858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Classification Mode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9864" y="4724399"/>
            <a:ext cx="2343091" cy="34290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486062" y="4842509"/>
            <a:ext cx="133346" cy="106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95607" y="4800600"/>
            <a:ext cx="113344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Confidence: 0.70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2476" y="5181599"/>
            <a:ext cx="2343091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28674" y="5305044"/>
            <a:ext cx="133346" cy="960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8219" y="5257800"/>
            <a:ext cx="12001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Glasses Detection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9864" y="5181599"/>
            <a:ext cx="2343091" cy="34290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486062" y="5303710"/>
            <a:ext cx="133346" cy="986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695607" y="5257800"/>
            <a:ext cx="1400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Real-Time Processing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8243" y="1257300"/>
            <a:ext cx="5181470" cy="4952999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38739" y="1503045"/>
            <a:ext cx="228594" cy="19430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81630" y="1466849"/>
            <a:ext cx="26764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Image Upload &amp; Analysis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38739" y="1904999"/>
            <a:ext cx="4800479" cy="2667000"/>
          </a:xfrm>
          <a:prstGeom prst="roundRect">
            <a:avLst>
              <a:gd name="adj" fmla="val 5714"/>
            </a:avLst>
          </a:prstGeom>
          <a:solidFill>
            <a:srgbClr val="F9FAFB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38739" y="1904999"/>
            <a:ext cx="4800479" cy="2667000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38739" y="4724399"/>
            <a:ext cx="2343091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14937" y="4850511"/>
            <a:ext cx="133346" cy="9067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24481" y="4800600"/>
            <a:ext cx="13715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Dual Mode Selection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96127" y="4724399"/>
            <a:ext cx="2343091" cy="34290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972325" y="4842509"/>
            <a:ext cx="133346" cy="106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81870" y="4800600"/>
            <a:ext cx="11715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Apple Color Emoji"/>
                <a:rFonts ascii="Apple Color Emoji" hAnsi="Apple Color Emoji" eastAsia="Apple Color Emoji" cs="Apple Color Emoji"/>
              </a:rPr>
              <a:t>Upload &amp; Classify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9FAFB"/>
              </a:gs>
              <a:gs pos="100000">
                <a:srgbClr val="FFFF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4857" y="1685925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924401" y="1922079"/>
            <a:ext cx="342891" cy="289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04972" y="2752725"/>
            <a:ext cx="7981750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1040"/>
              </a:spcAft>
            </a:pPr>
            <a:r>
              <a:rPr sz="2870" b="1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4972" y="3362324"/>
            <a:ext cx="79817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3120"/>
              </a:spcAft>
            </a:pPr>
            <a:r>
              <a:rPr sz="1196" b="0">
                <a:solidFill>
                  <a:srgbClr val="6B7280"/>
                </a:solidFill>
                <a:latin typeface="Apple Color Emoji"/>
                <a:rFonts ascii="Apple Color Emoji" hAnsi="Apple Color Emoji" eastAsia="Apple Color Emoji" cs="Apple Color Emoji"/>
              </a:rPr>
              <a:t>Thank you for your attention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4972" y="4086225"/>
            <a:ext cx="7981750" cy="10858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8255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19289" y="443864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495487" y="4546282"/>
            <a:ext cx="228594" cy="1657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52676" y="4438649"/>
            <a:ext cx="132394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Apple Color Emoji"/>
                <a:rFonts ascii="Apple Color Emoji" hAnsi="Apple Color Emoji" eastAsia="Apple Color Emoji" cs="Apple Color Emoji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2676" y="4591050"/>
            <a:ext cx="13239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Wahab Ul Hassan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33806" y="4400550"/>
            <a:ext cx="9524" cy="4572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00519" y="443864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276718" y="4531995"/>
            <a:ext cx="228594" cy="194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33906" y="4438649"/>
            <a:ext cx="13144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Apple Color Emoji"/>
                <a:rFonts ascii="Apple Color Emoji" hAnsi="Apple Color Emoji" eastAsia="Apple Color Emoji" cs="Apple Color Emoji"/>
              </a:rPr>
              <a:t>REGISTRATION 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3906" y="4591050"/>
            <a:ext cx="13144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42-FET/BSCE/F22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05512" y="4400550"/>
            <a:ext cx="9524" cy="4572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72225" y="443864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48423" y="4540567"/>
            <a:ext cx="228594" cy="1771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05612" y="4438649"/>
            <a:ext cx="126679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CA3AF"/>
                </a:solidFill>
                <a:latin typeface="Apple Color Emoji"/>
                <a:rFonts ascii="Apple Color Emoji" hAnsi="Apple Color Emoji" eastAsia="Apple Color Emoji" cs="Apple Color Emoji"/>
              </a:rPr>
              <a:t>COURSE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5612" y="4591050"/>
            <a:ext cx="12667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A2540"/>
                </a:solidFill>
                <a:latin typeface="Apple Color Emoji"/>
                <a:rFonts ascii="Apple Color Emoji" hAnsi="Apple Color Emoji" eastAsia="Apple Color Emoji" cs="Apple Color Emoji"/>
              </a:rPr>
              <a:t>Neural Networks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{"Label":"1","ContentProducer":"001191110108MA01KP2T5U00000","ProduceID":"9ecbf51e70708b4e5d1825a5daa20f4a","ReservedCode1":"","ContentPropagator":"001191110108MA01KP2T5U00000","PropagateID":"9ecbf51e70708b4e5d1825a5daa20f4a","ReservedCode2":""}</vt:lpwstr>
  </property>
</Properties>
</file>